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293FB-EF30-4DEF-9A51-6656794720E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06E6F-EBEB-44F6-981C-686F2064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4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06E6F-EBEB-44F6-981C-686F2064A3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43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4950"/>
            <a:ext cx="12191695" cy="6858000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296060"/>
            <a:ext cx="10058400" cy="48013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41C0DA"/>
                </a:solidFill>
                <a:latin typeface="Aptos"/>
              </a:defRPr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660768"/>
            <a:ext cx="10789920" cy="140346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Aptos"/>
              </a:defRPr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POSTGRESQL</a:t>
            </a:r>
            <a:b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7612" y="2108677"/>
            <a:ext cx="10332720" cy="48013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300" b="0">
                <a:solidFill>
                  <a:srgbClr val="CFE0EF"/>
                </a:solidFill>
                <a:latin typeface="Aptos"/>
              </a:defRPr>
            </a:pP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Against Known-Credential Exploitation in a Containerized Stack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A103D9-A220-6D83-9F29-DC444D78B49B}"/>
              </a:ext>
            </a:extLst>
          </p:cNvPr>
          <p:cNvGrpSpPr/>
          <p:nvPr/>
        </p:nvGrpSpPr>
        <p:grpSpPr>
          <a:xfrm>
            <a:off x="896112" y="3037458"/>
            <a:ext cx="10424160" cy="1574168"/>
            <a:chOff x="896112" y="3810263"/>
            <a:chExt cx="10424160" cy="1574168"/>
          </a:xfrm>
        </p:grpSpPr>
        <p:sp>
          <p:nvSpPr>
            <p:cNvPr id="6" name="Rounded Rectangle 5"/>
            <p:cNvSpPr/>
            <p:nvPr/>
          </p:nvSpPr>
          <p:spPr>
            <a:xfrm>
              <a:off x="896112" y="3810263"/>
              <a:ext cx="10424160" cy="1574168"/>
            </a:xfrm>
            <a:prstGeom prst="roundRect">
              <a:avLst/>
            </a:prstGeom>
            <a:solidFill>
              <a:srgbClr val="11273B"/>
            </a:solidFill>
            <a:ln>
              <a:solidFill>
                <a:srgbClr val="2D4C6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58240" y="4018443"/>
              <a:ext cx="9875520" cy="403187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000" b="1">
                  <a:solidFill>
                    <a:srgbClr val="41C0DA"/>
                  </a:solidFill>
                  <a:latin typeface="Aptos"/>
                </a:defRPr>
              </a:pPr>
              <a:r>
                <a:rPr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RESEARCH FOCUS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58240" y="4320195"/>
              <a:ext cx="9784080" cy="941796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ctr">
                <a:defRPr sz="1700" b="1">
                  <a:solidFill>
                    <a:srgbClr val="F8FAFC"/>
                  </a:solidFill>
                  <a:latin typeface="Aptos"/>
                </a:defRPr>
              </a:pPr>
              <a:r>
                <a:rPr sz="3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Credential rotation  •  SCRAM-SHA-256  •  </a:t>
              </a:r>
              <a:r>
                <a:rPr sz="3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pg_hba.conf</a:t>
              </a:r>
              <a:r>
                <a:rPr sz="3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•  remote access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975360" y="4581646"/>
            <a:ext cx="1005840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B7CCDE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Authorized local/classroom laboratory environment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8F0CAB-2251-04DD-D5B5-844F8D6C350C}"/>
              </a:ext>
            </a:extLst>
          </p:cNvPr>
          <p:cNvSpPr txBox="1"/>
          <p:nvPr/>
        </p:nvSpPr>
        <p:spPr>
          <a:xfrm>
            <a:off x="975360" y="5282526"/>
            <a:ext cx="390373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 algn="ctr"/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Favour Ebefa 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72FCD4-47EB-965F-AC53-98A594719F30}"/>
              </a:ext>
            </a:extLst>
          </p:cNvPr>
          <p:cNvSpPr txBox="1"/>
          <p:nvPr/>
        </p:nvSpPr>
        <p:spPr>
          <a:xfrm>
            <a:off x="5589033" y="5317752"/>
            <a:ext cx="52120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Instructor’s</a:t>
            </a:r>
          </a:p>
          <a:p>
            <a:pPr algn="ctr"/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Joshua and Mr. Sadiq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3E761D-9F1C-2E45-7A46-299BDAD5E43E}"/>
              </a:ext>
            </a:extLst>
          </p:cNvPr>
          <p:cNvSpPr txBox="1"/>
          <p:nvPr/>
        </p:nvSpPr>
        <p:spPr>
          <a:xfrm>
            <a:off x="1906194" y="4999688"/>
            <a:ext cx="8586921" cy="23391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400" b="0">
                <a:solidFill>
                  <a:srgbClr val="B7CCDE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REPO: </a:t>
            </a:r>
            <a:r>
              <a:rPr lang="en-US" dirty="0">
                <a:solidFill>
                  <a:srgbClr val="B7CC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https://github.com/favourebefa/Final-Project_postgresql-authentication-hardening.git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•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SECURITY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7432"/>
            <a:ext cx="10881360" cy="6340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valid known credential can still work when PostgreSQL is reachable and its access rules permit the connection.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94853E3-D843-D442-77B9-1A3AF0CCB247}"/>
              </a:ext>
            </a:extLst>
          </p:cNvPr>
          <p:cNvGrpSpPr/>
          <p:nvPr/>
        </p:nvGrpSpPr>
        <p:grpSpPr>
          <a:xfrm>
            <a:off x="580644" y="1823256"/>
            <a:ext cx="2592324" cy="3489254"/>
            <a:chOff x="580644" y="1823256"/>
            <a:chExt cx="2592324" cy="3489254"/>
          </a:xfrm>
        </p:grpSpPr>
        <p:sp>
          <p:nvSpPr>
            <p:cNvPr id="6" name="Rounded Rectangle 5"/>
            <p:cNvSpPr/>
            <p:nvPr/>
          </p:nvSpPr>
          <p:spPr>
            <a:xfrm>
              <a:off x="594360" y="1883510"/>
              <a:ext cx="2578608" cy="3429000"/>
            </a:xfrm>
            <a:prstGeom prst="roundRect">
              <a:avLst/>
            </a:prstGeom>
            <a:solidFill>
              <a:srgbClr val="F8FAFC"/>
            </a:solidFill>
            <a:ln>
              <a:solidFill>
                <a:srgbClr val="D3DC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580644" y="1823256"/>
              <a:ext cx="2578608" cy="73152"/>
            </a:xfrm>
            <a:prstGeom prst="rect">
              <a:avLst/>
            </a:prstGeom>
            <a:solidFill>
              <a:srgbClr val="D3454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95528" y="2065342"/>
              <a:ext cx="2148840" cy="249299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000" b="1">
                  <a:solidFill>
                    <a:srgbClr val="697685"/>
                  </a:solidFill>
                  <a:latin typeface="Aptos"/>
                </a:defRPr>
              </a:pPr>
              <a:r>
                <a:rPr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BASELINE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1584" y="2388690"/>
              <a:ext cx="2148840" cy="480131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2800" b="1">
                  <a:solidFill>
                    <a:srgbClr val="D34545"/>
                  </a:solidFill>
                  <a:latin typeface="Aptos"/>
                </a:defRPr>
              </a:pPr>
              <a:r>
                <a:rPr sz="3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ALLOW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95528" y="3004851"/>
              <a:ext cx="2103120" cy="1865126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ctr">
                <a:defRPr sz="1500" b="0">
                  <a:solidFill>
                    <a:srgbClr val="1F2936"/>
                  </a:solidFill>
                  <a:latin typeface="Aptos"/>
                </a:defRPr>
              </a:pPr>
              <a:r>
                <a:rPr sz="3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Known credential authenticated remotely.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EFD0440-67F7-41D2-4C96-C92FEE975D07}"/>
              </a:ext>
            </a:extLst>
          </p:cNvPr>
          <p:cNvGrpSpPr/>
          <p:nvPr/>
        </p:nvGrpSpPr>
        <p:grpSpPr>
          <a:xfrm>
            <a:off x="3456480" y="1852765"/>
            <a:ext cx="2615434" cy="3490374"/>
            <a:chOff x="3456480" y="1852765"/>
            <a:chExt cx="2615434" cy="3490374"/>
          </a:xfrm>
        </p:grpSpPr>
        <p:sp>
          <p:nvSpPr>
            <p:cNvPr id="11" name="Rounded Rectangle 10"/>
            <p:cNvSpPr/>
            <p:nvPr/>
          </p:nvSpPr>
          <p:spPr>
            <a:xfrm>
              <a:off x="3456480" y="1914139"/>
              <a:ext cx="2578608" cy="3429000"/>
            </a:xfrm>
            <a:prstGeom prst="roundRect">
              <a:avLst/>
            </a:prstGeom>
            <a:solidFill>
              <a:srgbClr val="F8FAFC"/>
            </a:solidFill>
            <a:ln>
              <a:solidFill>
                <a:srgbClr val="D3DC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93306" y="1852765"/>
              <a:ext cx="2578608" cy="73152"/>
            </a:xfrm>
            <a:prstGeom prst="rect">
              <a:avLst/>
            </a:prstGeom>
            <a:solidFill>
              <a:srgbClr val="30A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39610" y="2127851"/>
              <a:ext cx="2148840" cy="249299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000" b="1">
                  <a:solidFill>
                    <a:srgbClr val="697685"/>
                  </a:solidFill>
                  <a:latin typeface="Aptos"/>
                </a:defRPr>
              </a:pPr>
              <a:r>
                <a:rPr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HARDENING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39026" y="2421979"/>
              <a:ext cx="2148840" cy="449354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2800" b="1">
                  <a:solidFill>
                    <a:srgbClr val="30A060"/>
                  </a:solidFill>
                  <a:latin typeface="Apto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ROTATE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83831" y="3001049"/>
              <a:ext cx="2103120" cy="1865126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ctr">
                <a:defRPr sz="1500" b="0">
                  <a:solidFill>
                    <a:srgbClr val="1F2936"/>
                  </a:solidFill>
                  <a:latin typeface="Aptos"/>
                </a:defRPr>
              </a:pPr>
              <a:r>
                <a:rPr sz="3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Credential replaced; SCRAM retained.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516E30D-18A1-88EF-1D16-1926D57F63FD}"/>
              </a:ext>
            </a:extLst>
          </p:cNvPr>
          <p:cNvGrpSpPr/>
          <p:nvPr/>
        </p:nvGrpSpPr>
        <p:grpSpPr>
          <a:xfrm>
            <a:off x="6341364" y="1869145"/>
            <a:ext cx="2578608" cy="3474184"/>
            <a:chOff x="6341364" y="1869145"/>
            <a:chExt cx="2578608" cy="3474184"/>
          </a:xfrm>
        </p:grpSpPr>
        <p:sp>
          <p:nvSpPr>
            <p:cNvPr id="16" name="Rounded Rectangle 15"/>
            <p:cNvSpPr/>
            <p:nvPr/>
          </p:nvSpPr>
          <p:spPr>
            <a:xfrm>
              <a:off x="6341364" y="1914329"/>
              <a:ext cx="2578608" cy="3429000"/>
            </a:xfrm>
            <a:prstGeom prst="roundRect">
              <a:avLst/>
            </a:prstGeom>
            <a:solidFill>
              <a:srgbClr val="F8FAFC"/>
            </a:solidFill>
            <a:ln>
              <a:solidFill>
                <a:srgbClr val="D3DC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341364" y="1869145"/>
              <a:ext cx="2578608" cy="73152"/>
            </a:xfrm>
            <a:prstGeom prst="rect">
              <a:avLst/>
            </a:prstGeom>
            <a:solidFill>
              <a:srgbClr val="D3454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56248" y="2077115"/>
              <a:ext cx="2148840" cy="249299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000" b="1">
                  <a:solidFill>
                    <a:srgbClr val="697685"/>
                  </a:solidFill>
                  <a:latin typeface="Aptos"/>
                </a:defRPr>
              </a:pPr>
              <a:r>
                <a:rPr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AFTER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64558" y="2404080"/>
              <a:ext cx="2148840" cy="449354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2800" b="1">
                  <a:solidFill>
                    <a:srgbClr val="D34545"/>
                  </a:solidFill>
                  <a:latin typeface="Apto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DENY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64558" y="2957703"/>
              <a:ext cx="2301545" cy="1865126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ctr">
                <a:defRPr sz="1500" b="0">
                  <a:solidFill>
                    <a:srgbClr val="1F2936"/>
                  </a:solidFill>
                  <a:latin typeface="Aptos"/>
                </a:defRPr>
              </a:pPr>
              <a:r>
                <a:rPr sz="3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Known credential no longer authenticated</a:t>
              </a:r>
              <a:r>
                <a:rPr 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sz="3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9235440" y="1846422"/>
            <a:ext cx="2578608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83374" y="1823256"/>
            <a:ext cx="2578608" cy="73152"/>
          </a:xfrm>
          <a:prstGeom prst="rect">
            <a:avLst/>
          </a:prstGeom>
          <a:solidFill>
            <a:srgbClr val="2B7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50324" y="1991364"/>
            <a:ext cx="2148840" cy="24929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697685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1413" y="2404079"/>
            <a:ext cx="2148840" cy="44935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800" b="1">
                <a:solidFill>
                  <a:srgbClr val="2B7EC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1138" y="3115535"/>
            <a:ext cx="2103120" cy="140346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500" b="0">
                <a:solidFill>
                  <a:srgbClr val="1F2936"/>
                </a:solidFill>
                <a:latin typeface="Aptos"/>
              </a:defRPr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HBA limits permitted sources.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305D6DD-F941-ADCF-42E8-108C6C66111E}"/>
              </a:ext>
            </a:extLst>
          </p:cNvPr>
          <p:cNvGrpSpPr/>
          <p:nvPr/>
        </p:nvGrpSpPr>
        <p:grpSpPr>
          <a:xfrm>
            <a:off x="822960" y="5482629"/>
            <a:ext cx="10515600" cy="946608"/>
            <a:chOff x="822960" y="5129514"/>
            <a:chExt cx="10515600" cy="912601"/>
          </a:xfrm>
        </p:grpSpPr>
        <p:sp>
          <p:nvSpPr>
            <p:cNvPr id="26" name="Rounded Rectangle 25"/>
            <p:cNvSpPr/>
            <p:nvPr/>
          </p:nvSpPr>
          <p:spPr>
            <a:xfrm>
              <a:off x="822960" y="5129514"/>
              <a:ext cx="10515600" cy="912601"/>
            </a:xfrm>
            <a:prstGeom prst="roundRect">
              <a:avLst/>
            </a:prstGeom>
            <a:solidFill>
              <a:srgbClr val="0817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51560" y="5251180"/>
              <a:ext cx="9981201" cy="678244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ctr">
                <a:defRPr sz="1500" b="1">
                  <a:solidFill>
                    <a:srgbClr val="F8FAFC"/>
                  </a:solidFill>
                  <a:latin typeface="Aptos"/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Core finding: SCRAM was already active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—</a:t>
              </a: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tested improvement came from layered controls.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616958"/>
            <a:ext cx="8229600" cy="20313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•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16994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 &amp; HYPOTHESIS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79"/>
            <a:ext cx="10927080" cy="1988117"/>
          </a:xfrm>
          <a:prstGeom prst="roundRect">
            <a:avLst/>
          </a:prstGeom>
          <a:solidFill>
            <a:srgbClr val="EFF6FC"/>
          </a:solidFill>
          <a:ln>
            <a:solidFill>
              <a:srgbClr val="2B7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100584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05935"/>
            <a:ext cx="10287000" cy="10802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081727"/>
                </a:solidFill>
                <a:latin typeface="Aptos"/>
              </a:defRPr>
            </a:pP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what extent do SCRAM-SHA-256 authentication and restrictive </a:t>
            </a:r>
            <a:r>
              <a:rPr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pg_hba.conf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rules prevent unauthorized remote PostgreSQL connections using a previously known credential in a containerized environment?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527"/>
            <a:ext cx="5212080" cy="2549453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1832" y="3792334"/>
            <a:ext cx="45720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1">
                <a:solidFill>
                  <a:srgbClr val="081727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257178"/>
            <a:ext cx="4617720" cy="155734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800" b="0">
                <a:solidFill>
                  <a:srgbClr val="1F2936"/>
                </a:solidFill>
                <a:latin typeface="Aptos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Credential rotation combined with restrictive HBA rules will reduce successful remote authentication using the previously known credential while preserving authorized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2992" y="3573527"/>
            <a:ext cx="5212080" cy="2548160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69024" y="3792334"/>
            <a:ext cx="45720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1">
                <a:solidFill>
                  <a:srgbClr val="081727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4380012"/>
            <a:ext cx="457200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900" b="1">
                <a:solidFill>
                  <a:srgbClr val="081727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credential → DENY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Replacement credential → ALLOW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HBA mismatch → DENY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604791"/>
            <a:ext cx="8229600" cy="20313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0446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•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088136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experiment: Docker PostgreSQL. Supplementary validation: direct-LAN PostgreSQL on Kali.</a:t>
            </a:r>
          </a:p>
        </p:txBody>
      </p:sp>
      <p:pic>
        <p:nvPicPr>
          <p:cNvPr id="6" name="Picture 5" descr="a_clean_infographic_network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201400" cy="51297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616958"/>
            <a:ext cx="8229600" cy="20313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• 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37114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HBA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973484"/>
            <a:ext cx="1088136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host authentication included a broad remote rule using SCRAM-SHA-256.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54027"/>
            <a:ext cx="11045952" cy="5242678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Current_PostgreSQL_HBA_Configuration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88" y="1580270"/>
            <a:ext cx="10475288" cy="45996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616958"/>
            <a:ext cx="82296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 • 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13588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LISTENING CONFIGURATION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973484"/>
            <a:ext cx="1088136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was listening on all available addresses.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53312"/>
            <a:ext cx="11045952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Listen_Address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34" y="1659558"/>
            <a:ext cx="10451592" cy="416095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645510"/>
            <a:ext cx="82296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 • 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39494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authentication —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33146"/>
            <a:ext cx="10881360" cy="6340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authorized Kali client connected to the Docker PostgreSQL service using the previously known laboratory credential.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03742"/>
            <a:ext cx="11045952" cy="4714764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Remote_Access_Evidenc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20" y="1963492"/>
            <a:ext cx="10063335" cy="41933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48840" y="6202682"/>
            <a:ext cx="9052560" cy="18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8172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RESULT: REMOTE AUTHENTICATION SUCCESS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601968"/>
            <a:ext cx="82296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601968"/>
            <a:ext cx="6858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8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 • 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SCRAM-SHA-256 was already 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088136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baseline verifier confirms that the project did not introduce SCRAM as a new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53311"/>
            <a:ext cx="11045952" cy="4967425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Valid_Baselne_Postgresql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760" y="1678704"/>
            <a:ext cx="10414099" cy="43033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5971032"/>
            <a:ext cx="1170432" cy="14157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E-004 • T-001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6057537"/>
            <a:ext cx="9052560" cy="18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8172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SCRAM RETAINED, NOT INTRODUCED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645510"/>
            <a:ext cx="82296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41C0DA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 •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  <a:latin typeface="Aptos"/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CHANGED AFTER THE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24576"/>
            <a:ext cx="1088136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BECFDE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intervention targeted credential validity and source authorization while retaining SCRAM-SHA-256.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40C6C3-CF05-E6BA-31D4-5AA71D05729D}"/>
              </a:ext>
            </a:extLst>
          </p:cNvPr>
          <p:cNvGrpSpPr/>
          <p:nvPr/>
        </p:nvGrpSpPr>
        <p:grpSpPr>
          <a:xfrm>
            <a:off x="685800" y="2026916"/>
            <a:ext cx="3337560" cy="1508760"/>
            <a:chOff x="685800" y="1649548"/>
            <a:chExt cx="3337560" cy="150876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649548"/>
              <a:ext cx="3337560" cy="1508760"/>
            </a:xfrm>
            <a:prstGeom prst="roundRect">
              <a:avLst/>
            </a:prstGeom>
            <a:solidFill>
              <a:srgbClr val="11273B"/>
            </a:solidFill>
            <a:ln>
              <a:solidFill>
                <a:srgbClr val="2B496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86968" y="1814140"/>
              <a:ext cx="411480" cy="203133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200" b="1">
                  <a:solidFill>
                    <a:srgbClr val="30A060"/>
                  </a:solidFill>
                  <a:latin typeface="Apto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86968" y="2152468"/>
              <a:ext cx="2834640" cy="280077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700" b="1">
                  <a:solidFill>
                    <a:srgbClr val="F8FAFC"/>
                  </a:solidFill>
                  <a:latin typeface="Aptos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Rotate credential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86968" y="2545660"/>
              <a:ext cx="2834640" cy="203133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200" b="0">
                  <a:solidFill>
                    <a:srgbClr val="CADBE9"/>
                  </a:solidFill>
                  <a:latin typeface="Aptos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Invalidate the previously known credential.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539B76-4DF7-D9BC-A86D-B2BD7A734672}"/>
              </a:ext>
            </a:extLst>
          </p:cNvPr>
          <p:cNvGrpSpPr/>
          <p:nvPr/>
        </p:nvGrpSpPr>
        <p:grpSpPr>
          <a:xfrm>
            <a:off x="4498848" y="2031835"/>
            <a:ext cx="3337560" cy="1508760"/>
            <a:chOff x="4389120" y="1417320"/>
            <a:chExt cx="3337560" cy="1508760"/>
          </a:xfrm>
        </p:grpSpPr>
        <p:sp>
          <p:nvSpPr>
            <p:cNvPr id="10" name="Rounded Rectangle 9"/>
            <p:cNvSpPr/>
            <p:nvPr/>
          </p:nvSpPr>
          <p:spPr>
            <a:xfrm>
              <a:off x="4389120" y="1417320"/>
              <a:ext cx="3337560" cy="1508760"/>
            </a:xfrm>
            <a:prstGeom prst="roundRect">
              <a:avLst/>
            </a:prstGeom>
            <a:solidFill>
              <a:srgbClr val="11273B"/>
            </a:solidFill>
            <a:ln>
              <a:solidFill>
                <a:srgbClr val="2B496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90288" y="1581912"/>
              <a:ext cx="411480" cy="203133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200" b="1">
                  <a:solidFill>
                    <a:srgbClr val="2B7ECD"/>
                  </a:solidFill>
                  <a:latin typeface="Apto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90288" y="1920240"/>
              <a:ext cx="2834640" cy="280077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700" b="1">
                  <a:solidFill>
                    <a:srgbClr val="F8FAFC"/>
                  </a:solidFill>
                  <a:latin typeface="Aptos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Retain SCRAM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90288" y="2313432"/>
              <a:ext cx="2834640" cy="203133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200" b="0">
                  <a:solidFill>
                    <a:srgbClr val="CADBE9"/>
                  </a:solidFill>
                  <a:latin typeface="Aptos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Keep SCRAM-SHA-256 active.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D86FCA1-9BC2-4DE9-C958-408440E5ECAD}"/>
              </a:ext>
            </a:extLst>
          </p:cNvPr>
          <p:cNvGrpSpPr/>
          <p:nvPr/>
        </p:nvGrpSpPr>
        <p:grpSpPr>
          <a:xfrm>
            <a:off x="8138160" y="2060452"/>
            <a:ext cx="3337560" cy="1508760"/>
            <a:chOff x="8092440" y="1417320"/>
            <a:chExt cx="3337560" cy="1508760"/>
          </a:xfrm>
        </p:grpSpPr>
        <p:sp>
          <p:nvSpPr>
            <p:cNvPr id="14" name="Rounded Rectangle 13"/>
            <p:cNvSpPr/>
            <p:nvPr/>
          </p:nvSpPr>
          <p:spPr>
            <a:xfrm>
              <a:off x="8092440" y="1417320"/>
              <a:ext cx="3337560" cy="1508760"/>
            </a:xfrm>
            <a:prstGeom prst="roundRect">
              <a:avLst/>
            </a:prstGeom>
            <a:solidFill>
              <a:srgbClr val="11273B"/>
            </a:solidFill>
            <a:ln>
              <a:solidFill>
                <a:srgbClr val="2B496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293608" y="1581912"/>
              <a:ext cx="411480" cy="203133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200" b="1">
                  <a:solidFill>
                    <a:srgbClr val="D34545"/>
                  </a:solidFill>
                  <a:latin typeface="Apto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293608" y="1920240"/>
              <a:ext cx="2834640" cy="280077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700" b="1">
                  <a:solidFill>
                    <a:srgbClr val="F8FAFC"/>
                  </a:solidFill>
                  <a:latin typeface="Aptos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Restrict HBA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293608" y="2313432"/>
              <a:ext cx="2834640" cy="203133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200" b="0">
                  <a:solidFill>
                    <a:srgbClr val="CADBE9"/>
                  </a:solidFill>
                  <a:latin typeface="Aptos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 permitted source address.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A47FFE6-61FB-F363-8CFC-DBABDC1A1254}"/>
              </a:ext>
            </a:extLst>
          </p:cNvPr>
          <p:cNvGrpSpPr/>
          <p:nvPr/>
        </p:nvGrpSpPr>
        <p:grpSpPr>
          <a:xfrm>
            <a:off x="685800" y="4018805"/>
            <a:ext cx="3337560" cy="1508760"/>
            <a:chOff x="685800" y="3383280"/>
            <a:chExt cx="3337560" cy="1508760"/>
          </a:xfrm>
        </p:grpSpPr>
        <p:sp>
          <p:nvSpPr>
            <p:cNvPr id="18" name="Rounded Rectangle 17"/>
            <p:cNvSpPr/>
            <p:nvPr/>
          </p:nvSpPr>
          <p:spPr>
            <a:xfrm>
              <a:off x="685800" y="3383280"/>
              <a:ext cx="3337560" cy="1508760"/>
            </a:xfrm>
            <a:prstGeom prst="roundRect">
              <a:avLst/>
            </a:prstGeom>
            <a:solidFill>
              <a:srgbClr val="11273B"/>
            </a:solidFill>
            <a:ln>
              <a:solidFill>
                <a:srgbClr val="2B496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86968" y="3547872"/>
              <a:ext cx="411480" cy="203133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200" b="1">
                  <a:solidFill>
                    <a:srgbClr val="DC9E2C"/>
                  </a:solidFill>
                  <a:latin typeface="Apto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86968" y="3886200"/>
              <a:ext cx="2834640" cy="280077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700" b="1">
                  <a:solidFill>
                    <a:srgbClr val="F8FAFC"/>
                  </a:solidFill>
                  <a:latin typeface="Aptos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Reload &amp; verify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86968" y="4279392"/>
              <a:ext cx="2834640" cy="203133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200" b="0">
                  <a:solidFill>
                    <a:srgbClr val="CADBE9"/>
                  </a:solidFill>
                  <a:latin typeface="Aptos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and inspect active rules.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AFF0786-C821-E208-9BD8-8AA5AA8C6B93}"/>
              </a:ext>
            </a:extLst>
          </p:cNvPr>
          <p:cNvGrpSpPr/>
          <p:nvPr/>
        </p:nvGrpSpPr>
        <p:grpSpPr>
          <a:xfrm>
            <a:off x="4498848" y="4047422"/>
            <a:ext cx="3337560" cy="1508760"/>
            <a:chOff x="4389120" y="3383280"/>
            <a:chExt cx="3337560" cy="1508760"/>
          </a:xfrm>
        </p:grpSpPr>
        <p:sp>
          <p:nvSpPr>
            <p:cNvPr id="22" name="Rounded Rectangle 21"/>
            <p:cNvSpPr/>
            <p:nvPr/>
          </p:nvSpPr>
          <p:spPr>
            <a:xfrm>
              <a:off x="4389120" y="3383280"/>
              <a:ext cx="3337560" cy="1508760"/>
            </a:xfrm>
            <a:prstGeom prst="roundRect">
              <a:avLst/>
            </a:prstGeom>
            <a:solidFill>
              <a:srgbClr val="11273B"/>
            </a:solidFill>
            <a:ln>
              <a:solidFill>
                <a:srgbClr val="2B496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590288" y="3547872"/>
              <a:ext cx="411480" cy="203133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200" b="1">
                  <a:solidFill>
                    <a:srgbClr val="41C0DA"/>
                  </a:solidFill>
                  <a:latin typeface="Apto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90288" y="3886200"/>
              <a:ext cx="2834640" cy="280077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700" b="1">
                  <a:solidFill>
                    <a:srgbClr val="F8FAFC"/>
                  </a:solidFill>
                  <a:latin typeface="Aptos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Retest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90288" y="4279392"/>
              <a:ext cx="2834640" cy="203133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defRPr sz="1200" b="0">
                  <a:solidFill>
                    <a:srgbClr val="CADBE9"/>
                  </a:solidFill>
                  <a:latin typeface="Aptos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Verify ALLOW and DENY conditions.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6601968"/>
            <a:ext cx="82296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•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68521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RESTRICTIVE HBA RULE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931" y="1031090"/>
            <a:ext cx="10881360" cy="6340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source restriction was tested during hardening; Docker source-address behavior had to be accounted for.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9109"/>
            <a:ext cx="11045952" cy="4736826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HBA_Restriction_Rule_Se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883" y="1788378"/>
            <a:ext cx="9855517" cy="41104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48840" y="6028506"/>
            <a:ext cx="9052560" cy="18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8172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HBA: SOURCE-BASED ACCESS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630996"/>
            <a:ext cx="82296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161400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•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2068" y="512064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SCRAM-SHA-256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AFTER ROTATION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3048" y="1045608"/>
            <a:ext cx="1088136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authentication mechanism remained SCRAM-SHA-256 after the credential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53312"/>
            <a:ext cx="11045952" cy="4992624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Password_Format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687" y="1489371"/>
            <a:ext cx="9932706" cy="44874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48840" y="6072048"/>
            <a:ext cx="9052560" cy="18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8172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SCRAM-SHA-256 RETAINED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645510"/>
            <a:ext cx="82296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•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972800" cy="44935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RELOAD SUCCEEDED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017" y="1031094"/>
            <a:ext cx="1088136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accepted the configuration reload after the HBA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53312"/>
            <a:ext cx="11045952" cy="4992624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48840" y="5973172"/>
            <a:ext cx="9052560" cy="24929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81727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CONFIGURATION: RELOADED SUCCESSFULLY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645510"/>
            <a:ext cx="82296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89B6E1-D307-0529-E97A-268296D22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47" y="1576793"/>
            <a:ext cx="10136361" cy="4296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•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HBA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0131" y="1106424"/>
            <a:ext cx="1088136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active HBA rule was verified without reported configuration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53312"/>
            <a:ext cx="11045952" cy="4919472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ctive_HBA_Ru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43" y="1577673"/>
            <a:ext cx="10297121" cy="43202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48840" y="5897880"/>
            <a:ext cx="9052560" cy="24929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81727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CONTROL STATE: VERIFIED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645510"/>
            <a:ext cx="82296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132372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•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1092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PREVIOUSLY KNOWN CREDENTIAL</a:t>
            </a: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DENIED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445" y="1030224"/>
            <a:ext cx="10881360" cy="6340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previously known credential failed after credential rotation in the supplementary direct-LAN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8746" y="1556587"/>
            <a:ext cx="10088879" cy="4760322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Windows_to_Kali_Old_Password_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43" y="1951087"/>
            <a:ext cx="9408087" cy="39728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48840" y="6007607"/>
            <a:ext cx="9052560" cy="24929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81727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CREDENTIAL: ALLOW → DENY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645510"/>
            <a:ext cx="82296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• NETWORK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HBA DENIAL — SOURCE NOT PERMITTED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703" y="1089150"/>
            <a:ext cx="1088136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source excluded by the HBA rule received a no-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pg_hba.conf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-entry denial.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" y="1353312"/>
            <a:ext cx="10210800" cy="4973628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Windows_to_Kali_HBA_Den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058" y="1717330"/>
            <a:ext cx="9177963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48840" y="6043020"/>
            <a:ext cx="9052560" cy="24929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81727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HBA MISMATCH: CONNECTION DENIED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645510"/>
            <a:ext cx="82296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/>
              <a:t>16 • NETWORK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lang="en-US" sz="3500" dirty="0"/>
              <a:t>DIRECT-LAN SOURCE ADDRESS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0881360" cy="6340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/>
              <a:t>The supplementary direct-LAN test showed PostgreSQL observing the Windows host's actual LAN address.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6971" y="1621572"/>
            <a:ext cx="10488750" cy="4724364"/>
          </a:xfrm>
          <a:prstGeom prst="roundRect">
            <a:avLst/>
          </a:prstGeom>
          <a:solidFill>
            <a:srgbClr val="F8FAFC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indows_to_Kali_Source_IP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08" y="1799808"/>
            <a:ext cx="9494195" cy="41803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90344" y="6089904"/>
            <a:ext cx="9052560" cy="24929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81727"/>
                </a:solidFill>
                <a:latin typeface="Aptos"/>
              </a:defRPr>
            </a:pPr>
            <a:r>
              <a:rPr sz="1500" dirty="0"/>
              <a:t>DIRECT-LAN SOURCE: 192.168.42.9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645510"/>
            <a:ext cx="82296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000" dirty="0"/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2B7ECD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 • CONTROL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081727"/>
                </a:solidFill>
                <a:latin typeface="Aptos"/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088136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00" b="0">
                <a:solidFill>
                  <a:srgbClr val="69768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addresses a different part of the remote-access path.</a:t>
            </a:r>
          </a:p>
        </p:txBody>
      </p:sp>
      <p:pic>
        <p:nvPicPr>
          <p:cNvPr id="6" name="Picture 5" descr="a_clean_infographic_diagram_on_a_whit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201400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645510"/>
            <a:ext cx="82296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4031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41C0DA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29778"/>
            <a:ext cx="10972800" cy="5570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  <a:latin typeface="Aptos"/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EVIDENCE SUPPORTS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9429" y="1540652"/>
            <a:ext cx="10972800" cy="987552"/>
          </a:xfrm>
          <a:prstGeom prst="roundRect">
            <a:avLst/>
          </a:prstGeom>
          <a:solidFill>
            <a:srgbClr val="11273B"/>
          </a:solidFill>
          <a:ln>
            <a:solidFill>
              <a:srgbClr val="2B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7879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100" b="1">
                <a:solidFill>
                  <a:srgbClr val="F8FAFC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tested known-credential access path was reduced through layered hardening.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14984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0">
                <a:solidFill>
                  <a:srgbClr val="DBE8F3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SCRAM-SHA-256 was already active and remained active.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55848"/>
            <a:ext cx="1014984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0">
                <a:solidFill>
                  <a:srgbClr val="DBE8F3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Credential rotation invalidated the previously known credential.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22776"/>
            <a:ext cx="1014984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0">
                <a:solidFill>
                  <a:srgbClr val="DBE8F3"/>
                </a:solidFill>
                <a:latin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• Restrictive HBA rules denied excluded connection 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9704"/>
            <a:ext cx="10149840" cy="32624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0">
                <a:solidFill>
                  <a:srgbClr val="DBE8F3"/>
                </a:solidFill>
                <a:latin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• Docker networking made source-address verification essential.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9429" y="5440680"/>
            <a:ext cx="10972800" cy="873034"/>
          </a:xfrm>
          <a:prstGeom prst="roundRect">
            <a:avLst/>
          </a:prstGeom>
          <a:solidFill>
            <a:srgbClr val="255B3F"/>
          </a:solidFill>
          <a:ln>
            <a:solidFill>
              <a:srgbClr val="30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5563910"/>
            <a:ext cx="9601200" cy="6340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  |  Strong authentication + credential hygiene + network restriction =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defense.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601968"/>
            <a:ext cx="82296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F8FAFC"/>
                </a:solidFill>
                <a:latin typeface="Apto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AUTHENTICATION HARDENING • FINAL PROJECT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291C6-7CBF-C71D-09D9-E0DB2F589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D8B3B7-5E9E-997B-3697-530054DDB0A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7E3BD-1469-030B-5EF8-0A35896B885D}"/>
              </a:ext>
            </a:extLst>
          </p:cNvPr>
          <p:cNvSpPr txBox="1"/>
          <p:nvPr/>
        </p:nvSpPr>
        <p:spPr>
          <a:xfrm>
            <a:off x="609447" y="2591165"/>
            <a:ext cx="1097280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  <a:latin typeface="Aptos"/>
              </a:defRPr>
            </a:pPr>
            <a:r>
              <a:rPr lang="en-US" sz="6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0593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765</Words>
  <Application>Microsoft Office PowerPoint</Application>
  <PresentationFormat>Widescreen</PresentationFormat>
  <Paragraphs>130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Favourite Ebefa</cp:lastModifiedBy>
  <cp:revision>14</cp:revision>
  <dcterms:created xsi:type="dcterms:W3CDTF">2013-01-27T09:14:16Z</dcterms:created>
  <dcterms:modified xsi:type="dcterms:W3CDTF">2026-09-10T17:30:13Z</dcterms:modified>
  <cp:category/>
</cp:coreProperties>
</file>